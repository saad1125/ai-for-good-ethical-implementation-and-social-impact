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11/16/2023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6349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11/16/2023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2450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8002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431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11/16/2023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5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11/16/2023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576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11/16/2023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0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7091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11/16/2023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5949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3126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11/16/2023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6579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11/16/2023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985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1026" name="Picture 2" descr="EU AI Act: first regulation on artificial intelligence | News | European  Parliament">
            <a:extLst>
              <a:ext uri="{FF2B5EF4-FFF2-40B4-BE49-F238E27FC236}">
                <a16:creationId xmlns:a16="http://schemas.microsoft.com/office/drawing/2014/main" id="{A8EC9B27-19DD-4937-AF7B-58C6E8A87C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9" b="14244"/>
          <a:stretch/>
        </p:blipFill>
        <p:spPr bwMode="auto">
          <a:xfrm>
            <a:off x="20" y="10"/>
            <a:ext cx="12185156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48AEA76-67F2-4344-A189-9BFFE0076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5CF310-CDF7-0006-08BC-90D607002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799521"/>
            <a:ext cx="5565648" cy="21796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>
                <a:solidFill>
                  <a:srgbClr val="FFFFFF"/>
                </a:solidFill>
              </a:rPr>
              <a:t>Understanding the Intersection of AI, Ethics, and Social Progress</a:t>
            </a:r>
            <a:endParaRPr lang="en-IN" sz="37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6B399-03A8-C25F-7926-AC9A73B2F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624760"/>
            <a:ext cx="5565648" cy="16330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 dirty="0">
                <a:solidFill>
                  <a:srgbClr val="FFFFFF"/>
                </a:solidFill>
              </a:rPr>
              <a:t>Team Members (Group J):-</a:t>
            </a:r>
          </a:p>
          <a:p>
            <a:pPr>
              <a:lnSpc>
                <a:spcPct val="100000"/>
              </a:lnSpc>
            </a:pPr>
            <a:r>
              <a:rPr lang="en-US" sz="1900" dirty="0">
                <a:solidFill>
                  <a:srgbClr val="FFFFFF"/>
                </a:solidFill>
              </a:rPr>
              <a:t>Ananya </a:t>
            </a:r>
            <a:r>
              <a:rPr lang="en-US" sz="1900" dirty="0" err="1">
                <a:solidFill>
                  <a:srgbClr val="FFFFFF"/>
                </a:solidFill>
              </a:rPr>
              <a:t>Kachawa</a:t>
            </a:r>
            <a:r>
              <a:rPr lang="en-US" sz="1900" dirty="0">
                <a:solidFill>
                  <a:srgbClr val="FFFFFF"/>
                </a:solidFill>
              </a:rPr>
              <a:t>-  21136751 </a:t>
            </a:r>
          </a:p>
          <a:p>
            <a:pPr>
              <a:lnSpc>
                <a:spcPct val="100000"/>
              </a:lnSpc>
            </a:pPr>
            <a:r>
              <a:rPr lang="en-US" sz="1900" dirty="0">
                <a:solidFill>
                  <a:srgbClr val="FFFFFF"/>
                </a:solidFill>
              </a:rPr>
              <a:t>Mohammad Saad Shaikh- 22163573  </a:t>
            </a:r>
          </a:p>
          <a:p>
            <a:pPr>
              <a:lnSpc>
                <a:spcPct val="100000"/>
              </a:lnSpc>
            </a:pPr>
            <a:r>
              <a:rPr lang="en-US" sz="1900" dirty="0" err="1">
                <a:solidFill>
                  <a:srgbClr val="FFFFFF"/>
                </a:solidFill>
              </a:rPr>
              <a:t>Harshal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Agashe</a:t>
            </a:r>
            <a:r>
              <a:rPr lang="en-US" sz="1900" dirty="0">
                <a:solidFill>
                  <a:srgbClr val="FFFFFF"/>
                </a:solidFill>
              </a:rPr>
              <a:t>- 22157051</a:t>
            </a:r>
          </a:p>
          <a:p>
            <a:pPr>
              <a:lnSpc>
                <a:spcPct val="100000"/>
              </a:lnSpc>
            </a:pPr>
            <a:endParaRPr lang="en-IN" sz="1900" dirty="0">
              <a:solidFill>
                <a:srgbClr val="FFFFFF"/>
              </a:solidFill>
            </a:endParaRPr>
          </a:p>
        </p:txBody>
      </p:sp>
      <p:grpSp>
        <p:nvGrpSpPr>
          <p:cNvPr id="1035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036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37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38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9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0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1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2123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5" name="Rectangle 2094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719DC-8721-82E1-C771-2F576D5E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09" y="208570"/>
            <a:ext cx="4663649" cy="1455091"/>
          </a:xfrm>
        </p:spPr>
        <p:txBody>
          <a:bodyPr>
            <a:normAutofit/>
          </a:bodyPr>
          <a:lstStyle/>
          <a:p>
            <a:r>
              <a:rPr lang="en-US" dirty="0"/>
              <a:t>AI for Good means</a:t>
            </a:r>
            <a:endParaRPr lang="en-IN" dirty="0"/>
          </a:p>
        </p:txBody>
      </p:sp>
      <p:sp>
        <p:nvSpPr>
          <p:cNvPr id="2096" name="Freeform: Shape 2095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097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098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61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099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0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1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2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65A6C-9678-A6F1-9E03-18AC579DF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5177342" cy="39644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Social Impact:</a:t>
            </a:r>
            <a:r>
              <a:rPr lang="en-US" sz="1200" b="0" i="0" dirty="0">
                <a:effectLst/>
                <a:latin typeface="Söhne"/>
              </a:rPr>
              <a:t> Prominent societal challenges like poverty, access to healthcare, education, environmental sustainability, and more are the focus of AI for Good efforts.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Ethical Considerations:</a:t>
            </a:r>
            <a:r>
              <a:rPr lang="en-US" sz="1200" b="0" i="0" dirty="0">
                <a:effectLst/>
                <a:latin typeface="Söhne"/>
              </a:rPr>
              <a:t> AI for Good places a strong emphasis on the value of developing and utilizing ethical AI. Fairness, accountability, openness, and the preservation of human rights and privacy in AI systems are all part of this.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Humanitarian Applications:</a:t>
            </a:r>
            <a:r>
              <a:rPr lang="en-US" sz="1200" b="0" i="0" dirty="0">
                <a:effectLst/>
                <a:latin typeface="Söhne"/>
              </a:rPr>
              <a:t> The use of AI for Good encompasses humanitarian endeavors like as illness prevention, disaster relief, and enhancing the standard of living for underprivileged or vulnerable groups.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1200" b="1" i="0" dirty="0">
                <a:effectLst/>
                <a:latin typeface="Söhne"/>
              </a:rPr>
              <a:t>Global Collaboration:</a:t>
            </a:r>
            <a:r>
              <a:rPr lang="en-US" sz="1200" b="0" i="0" dirty="0">
                <a:effectLst/>
                <a:latin typeface="Söhne"/>
              </a:rPr>
              <a:t> To pool resources and knowledge, AI for Good promotes cooperation between researchers, developers, policymakers, and NGOs.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IN" sz="1200" b="1" i="0" dirty="0">
                <a:effectLst/>
                <a:latin typeface="Söhne"/>
              </a:rPr>
              <a:t>Sustainability:</a:t>
            </a:r>
            <a:r>
              <a:rPr lang="en-IN" sz="1200" b="0" i="0" dirty="0">
                <a:solidFill>
                  <a:srgbClr val="ECECF1"/>
                </a:solidFill>
                <a:effectLst/>
                <a:latin typeface="Söhne"/>
              </a:rPr>
              <a:t> </a:t>
            </a:r>
            <a:r>
              <a:rPr lang="en-US" sz="1200" b="0" i="0" dirty="0">
                <a:effectLst/>
                <a:latin typeface="Söhne"/>
              </a:rPr>
              <a:t>AI for Good encourages the creation of sustainable AI solutions while considering how AI technologies may affect the environment. </a:t>
            </a: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en-US" sz="1200" dirty="0">
                <a:latin typeface="Söhne"/>
              </a:rPr>
              <a:t> </a:t>
            </a:r>
            <a:r>
              <a:rPr lang="en-IN" sz="1200" b="1" i="0" dirty="0">
                <a:effectLst/>
                <a:latin typeface="Söhne"/>
              </a:rPr>
              <a:t>Accessibility: </a:t>
            </a:r>
            <a:r>
              <a:rPr lang="en-US" sz="1200" i="0" dirty="0">
                <a:effectLst/>
                <a:latin typeface="Söhne"/>
              </a:rPr>
              <a:t>AI for Good aims to ensure that AI developments do not worsen already-existing inequalities but rather help to reduce them by making AI technologies accessible and advantageous to all.</a:t>
            </a:r>
            <a:endParaRPr lang="en-IN" sz="1200" dirty="0"/>
          </a:p>
        </p:txBody>
      </p:sp>
      <p:pic>
        <p:nvPicPr>
          <p:cNvPr id="2050" name="Picture 2" descr="Artificial Intelligence Icon Images – Browse 2,248,625 Stock Photos,  Vectors, and Video | Adobe Stock">
            <a:extLst>
              <a:ext uri="{FF2B5EF4-FFF2-40B4-BE49-F238E27FC236}">
                <a16:creationId xmlns:a16="http://schemas.microsoft.com/office/drawing/2014/main" id="{80E1C2B8-B8F1-433A-CBC3-0DDB79D73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3780" y="1154813"/>
            <a:ext cx="5660211" cy="4457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3" name="Freeform: Shape 2102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104" name="Group 2103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05" name="Freeform: Shape 2104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106" name="Freeform: Shape 2105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107" name="Freeform: Shape 2106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108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9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0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1" name="Freeform: Shape 2110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78350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75894C-5EC4-FB15-F622-47521E80C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1114691"/>
            <a:ext cx="5512288" cy="1880555"/>
          </a:xfrm>
        </p:spPr>
        <p:txBody>
          <a:bodyPr anchor="t">
            <a:normAutofit/>
          </a:bodyPr>
          <a:lstStyle/>
          <a:p>
            <a:r>
              <a:rPr lang="it-IT" dirty="0"/>
              <a:t>AI Algorithms in Social Domains</a:t>
            </a:r>
            <a:endParaRPr lang="en-IN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9BFB270-A887-4B62-B243-50F92509A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5" name="Graphic 78">
            <a:extLst>
              <a:ext uri="{FF2B5EF4-FFF2-40B4-BE49-F238E27FC236}">
                <a16:creationId xmlns:a16="http://schemas.microsoft.com/office/drawing/2014/main" id="{2EDC2578-BDB0-4118-975D-CFCE02823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63724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6" name="Graphic 78">
              <a:extLst>
                <a:ext uri="{FF2B5EF4-FFF2-40B4-BE49-F238E27FC236}">
                  <a16:creationId xmlns:a16="http://schemas.microsoft.com/office/drawing/2014/main" id="{FB6536F0-4A9C-46C9-96E9-22CBB33E6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aphic 78">
              <a:extLst>
                <a:ext uri="{FF2B5EF4-FFF2-40B4-BE49-F238E27FC236}">
                  <a16:creationId xmlns:a16="http://schemas.microsoft.com/office/drawing/2014/main" id="{DFD6A33A-F889-42D7-ADC2-DD9B88DF0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C375AFD7-9E86-4D19-B86E-C936D33B0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4102C78E-31A2-4DB3-8790-415EB0B48A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4F3E144D-8167-438A-B67F-50F5D9C0C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4BE2135F-02C1-449F-B195-232E9AFDD6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2" descr="9 Real-World Problems that can be Solved by Machine Learning">
            <a:extLst>
              <a:ext uri="{FF2B5EF4-FFF2-40B4-BE49-F238E27FC236}">
                <a16:creationId xmlns:a16="http://schemas.microsoft.com/office/drawing/2014/main" id="{649384AC-59ED-7C9A-81D8-E5F68FB74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83" r="2" b="2"/>
          <a:stretch/>
        </p:blipFill>
        <p:spPr bwMode="auto">
          <a:xfrm>
            <a:off x="525718" y="2922104"/>
            <a:ext cx="5512288" cy="334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07850-74E0-CF72-2008-2C94FB249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4040" y="1114691"/>
            <a:ext cx="4159233" cy="514590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1600" b="1" i="0" dirty="0">
                <a:effectLst/>
                <a:latin typeface="Söhne"/>
              </a:rPr>
              <a:t>Healthcare:</a:t>
            </a:r>
            <a:r>
              <a:rPr lang="en-US" sz="1600" i="0" dirty="0">
                <a:effectLst/>
                <a:latin typeface="Söhne"/>
              </a:rPr>
              <a:t>AI algorithms are used for clinical decision support, personalized medicine, and disease diagnosis. In particular, Convolutional Neural Networks (CNNs), Decision Trees, and Support Vector Machines are used.</a:t>
            </a:r>
          </a:p>
          <a:p>
            <a:pPr>
              <a:lnSpc>
                <a:spcPct val="100000"/>
              </a:lnSpc>
            </a:pPr>
            <a:r>
              <a:rPr lang="en-US" sz="1600" b="1" i="0" dirty="0">
                <a:effectLst/>
                <a:latin typeface="Söhne"/>
              </a:rPr>
              <a:t>Education: </a:t>
            </a:r>
            <a:r>
              <a:rPr lang="en-US" sz="1600" i="0" dirty="0">
                <a:effectLst/>
                <a:latin typeface="Söhne"/>
              </a:rPr>
              <a:t>Personalized learning, automatic essay grading, and language learning applications all make use of machine learning algorithms, such as recommender systems and natural language processing (NLP) methods.</a:t>
            </a:r>
          </a:p>
          <a:p>
            <a:pPr>
              <a:lnSpc>
                <a:spcPct val="100000"/>
              </a:lnSpc>
            </a:pPr>
            <a:r>
              <a:rPr lang="en-IN" sz="1600" b="1" i="0" dirty="0">
                <a:effectLst/>
                <a:latin typeface="Söhne"/>
              </a:rPr>
              <a:t>Social Services: </a:t>
            </a:r>
            <a:r>
              <a:rPr lang="en-US" sz="1600" i="0" dirty="0">
                <a:effectLst/>
                <a:latin typeface="Söhne"/>
              </a:rPr>
              <a:t>Efficient resource allocation and sentiment analysis in social services are made possible by optimization algorithms and natural language processing techniques.</a:t>
            </a:r>
          </a:p>
          <a:p>
            <a:pPr>
              <a:lnSpc>
                <a:spcPct val="100000"/>
              </a:lnSpc>
            </a:pPr>
            <a:r>
              <a:rPr lang="en-US" sz="1600" b="1" i="0" dirty="0">
                <a:effectLst/>
                <a:latin typeface="Söhne"/>
              </a:rPr>
              <a:t>Humanitarian Aid: </a:t>
            </a:r>
            <a:r>
              <a:rPr lang="en-US" sz="1600" i="0" dirty="0">
                <a:effectLst/>
                <a:latin typeface="Söhne"/>
              </a:rPr>
              <a:t>Planning for disaster response, satellite image analysis, and humanitarian endeavors all use AI algorithms, such as computer vision for image analysis and natural language processing (NLP) for language translation.</a:t>
            </a:r>
            <a:endParaRPr lang="en-IN" sz="1600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E1BEDD21-8CC9-4E04-B8CF-CE59786DF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915833"/>
            <a:ext cx="2438970" cy="942167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B108AF4-088E-4064-B983-46D04AE2E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9771377" y="5278254"/>
            <a:ext cx="623078" cy="1834221"/>
            <a:chOff x="10948005" y="3272152"/>
            <a:chExt cx="623078" cy="1834221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0072F45-87A5-41AF-8A5F-AA1169606F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543D5C-6314-4A56-96D8-66138F7AD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3B17B08-2B11-4A2F-9E2C-DE23C7250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8962" y="5013367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6" name="Graphic 12">
              <a:extLst>
                <a:ext uri="{FF2B5EF4-FFF2-40B4-BE49-F238E27FC236}">
                  <a16:creationId xmlns:a16="http://schemas.microsoft.com/office/drawing/2014/main" id="{1C07DBD2-276A-4A72-BF25-6FB2FCD05A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Graphic 15">
              <a:extLst>
                <a:ext uri="{FF2B5EF4-FFF2-40B4-BE49-F238E27FC236}">
                  <a16:creationId xmlns:a16="http://schemas.microsoft.com/office/drawing/2014/main" id="{C354B108-DB71-4484-8743-68C8D50307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56574" y="4484929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15">
              <a:extLst>
                <a:ext uri="{FF2B5EF4-FFF2-40B4-BE49-F238E27FC236}">
                  <a16:creationId xmlns:a16="http://schemas.microsoft.com/office/drawing/2014/main" id="{C50B8508-ED23-4F52-B6D0-18C4EFC54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7C296D5-FE18-49F2-BECF-3BBFD7834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98165" y="4772395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7147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279689-4B65-8ACC-0590-688CC7AE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75403"/>
            <a:ext cx="5512288" cy="1835608"/>
          </a:xfrm>
        </p:spPr>
        <p:txBody>
          <a:bodyPr anchor="t">
            <a:normAutofit/>
          </a:bodyPr>
          <a:lstStyle/>
          <a:p>
            <a:r>
              <a:rPr lang="en-US" dirty="0"/>
              <a:t>Ethical Considerations in AI for Good</a:t>
            </a:r>
            <a:endParaRPr lang="en-IN" dirty="0"/>
          </a:p>
        </p:txBody>
      </p:sp>
      <p:grpSp>
        <p:nvGrpSpPr>
          <p:cNvPr id="4105" name="Graphic 78">
            <a:extLst>
              <a:ext uri="{FF2B5EF4-FFF2-40B4-BE49-F238E27FC236}">
                <a16:creationId xmlns:a16="http://schemas.microsoft.com/office/drawing/2014/main" id="{2EDC2578-BDB0-4118-975D-CFCE02823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63724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4106" name="Graphic 78">
              <a:extLst>
                <a:ext uri="{FF2B5EF4-FFF2-40B4-BE49-F238E27FC236}">
                  <a16:creationId xmlns:a16="http://schemas.microsoft.com/office/drawing/2014/main" id="{FB6536F0-4A9C-46C9-96E9-22CBB33E6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107" name="Graphic 78">
              <a:extLst>
                <a:ext uri="{FF2B5EF4-FFF2-40B4-BE49-F238E27FC236}">
                  <a16:creationId xmlns:a16="http://schemas.microsoft.com/office/drawing/2014/main" id="{DFD6A33A-F889-42D7-ADC2-DD9B88DF0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108" name="Graphic 78">
                <a:extLst>
                  <a:ext uri="{FF2B5EF4-FFF2-40B4-BE49-F238E27FC236}">
                    <a16:creationId xmlns:a16="http://schemas.microsoft.com/office/drawing/2014/main" id="{C375AFD7-9E86-4D19-B86E-C936D33B0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9" name="Graphic 78">
                <a:extLst>
                  <a:ext uri="{FF2B5EF4-FFF2-40B4-BE49-F238E27FC236}">
                    <a16:creationId xmlns:a16="http://schemas.microsoft.com/office/drawing/2014/main" id="{4102C78E-31A2-4DB3-8790-415EB0B48A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0" name="Graphic 78">
                <a:extLst>
                  <a:ext uri="{FF2B5EF4-FFF2-40B4-BE49-F238E27FC236}">
                    <a16:creationId xmlns:a16="http://schemas.microsoft.com/office/drawing/2014/main" id="{4F3E144D-8167-438A-B67F-50F5D9C0C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1" name="Graphic 78">
                <a:extLst>
                  <a:ext uri="{FF2B5EF4-FFF2-40B4-BE49-F238E27FC236}">
                    <a16:creationId xmlns:a16="http://schemas.microsoft.com/office/drawing/2014/main" id="{4BE2135F-02C1-449F-B195-232E9AFDD6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098" name="Picture 2" descr="Ethics Icon Images – Browse 21,858 Stock Photos, Vectors, and Video | Adobe  Stock">
            <a:extLst>
              <a:ext uri="{FF2B5EF4-FFF2-40B4-BE49-F238E27FC236}">
                <a16:creationId xmlns:a16="http://schemas.microsoft.com/office/drawing/2014/main" id="{ACED1364-1DD1-39C0-6CF6-7107420DF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11626" y="2851111"/>
            <a:ext cx="3411864" cy="341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9C72D-19CB-574F-037D-EB9106999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4040" y="1114691"/>
            <a:ext cx="4159233" cy="5144455"/>
          </a:xfrm>
        </p:spPr>
        <p:txBody>
          <a:bodyPr>
            <a:normAutofit/>
          </a:bodyPr>
          <a:lstStyle/>
          <a:p>
            <a:r>
              <a:rPr lang="en-US" dirty="0"/>
              <a:t>Important Ideas:</a:t>
            </a:r>
          </a:p>
          <a:p>
            <a:r>
              <a:rPr lang="en-US" dirty="0"/>
              <a:t>Fairness: Providing objective results.</a:t>
            </a:r>
          </a:p>
          <a:p>
            <a:r>
              <a:rPr lang="en-US" dirty="0"/>
              <a:t>Transparency: Providing an explanation for AI procedures.</a:t>
            </a:r>
          </a:p>
          <a:p>
            <a:r>
              <a:rPr lang="en-US" dirty="0"/>
              <a:t>Responsibility: Assigning blame for decisions made by AI.</a:t>
            </a:r>
          </a:p>
          <a:p>
            <a:r>
              <a:rPr lang="en-US" dirty="0"/>
              <a:t>Privacy: Preserving individual information.</a:t>
            </a:r>
            <a:endParaRPr lang="en-IN" dirty="0"/>
          </a:p>
        </p:txBody>
      </p:sp>
      <p:sp>
        <p:nvSpPr>
          <p:cNvPr id="4113" name="Freeform: Shape 4112">
            <a:extLst>
              <a:ext uri="{FF2B5EF4-FFF2-40B4-BE49-F238E27FC236}">
                <a16:creationId xmlns:a16="http://schemas.microsoft.com/office/drawing/2014/main" id="{E1BEDD21-8CC9-4E04-B8CF-CE59786DF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115" name="Group 4114">
            <a:extLst>
              <a:ext uri="{FF2B5EF4-FFF2-40B4-BE49-F238E27FC236}">
                <a16:creationId xmlns:a16="http://schemas.microsoft.com/office/drawing/2014/main" id="{A6DA475A-533E-4A16-A83E-0171FFB6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10732601" y="535113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116" name="Freeform: Shape 4115">
              <a:extLst>
                <a:ext uri="{FF2B5EF4-FFF2-40B4-BE49-F238E27FC236}">
                  <a16:creationId xmlns:a16="http://schemas.microsoft.com/office/drawing/2014/main" id="{9EB076CD-5E1A-4B4E-8434-EB36C96CD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17" name="Freeform: Shape 4116">
              <a:extLst>
                <a:ext uri="{FF2B5EF4-FFF2-40B4-BE49-F238E27FC236}">
                  <a16:creationId xmlns:a16="http://schemas.microsoft.com/office/drawing/2014/main" id="{F6EB8026-10C9-4869-9F11-AD4C064F9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18" name="Freeform: Shape 4117">
              <a:extLst>
                <a:ext uri="{FF2B5EF4-FFF2-40B4-BE49-F238E27FC236}">
                  <a16:creationId xmlns:a16="http://schemas.microsoft.com/office/drawing/2014/main" id="{C49D45E4-020D-4F13-BA0F-A5307EA2A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119" name="Graphic 12">
              <a:extLst>
                <a:ext uri="{FF2B5EF4-FFF2-40B4-BE49-F238E27FC236}">
                  <a16:creationId xmlns:a16="http://schemas.microsoft.com/office/drawing/2014/main" id="{9C88C3FA-F709-4D00-9E6D-882DB1E28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0" name="Graphic 15">
              <a:extLst>
                <a:ext uri="{FF2B5EF4-FFF2-40B4-BE49-F238E27FC236}">
                  <a16:creationId xmlns:a16="http://schemas.microsoft.com/office/drawing/2014/main" id="{7EDA809C-8B77-4778-9050-82BA49976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1" name="Graphic 15">
              <a:extLst>
                <a:ext uri="{FF2B5EF4-FFF2-40B4-BE49-F238E27FC236}">
                  <a16:creationId xmlns:a16="http://schemas.microsoft.com/office/drawing/2014/main" id="{592CBFFA-9E14-4482-8D59-A989BAD45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2" name="Freeform: Shape 4121">
              <a:extLst>
                <a:ext uri="{FF2B5EF4-FFF2-40B4-BE49-F238E27FC236}">
                  <a16:creationId xmlns:a16="http://schemas.microsoft.com/office/drawing/2014/main" id="{D801BD80-BE9E-4AFB-BEF4-435B40BD2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6709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7CEB-FB9D-EBAD-BB33-49B3C63B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Studies in Ethical AI for Good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7BE4F-B6B6-AF18-40FB-0552F6A8A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öhne"/>
              </a:rPr>
              <a:t>Project Debater by IBM: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F5BB2-6432-B596-E5DA-8E2435EF66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purpose of IBM's Project Debater is to have meaningful conversations about difficult subjects with people.</a:t>
            </a:r>
          </a:p>
          <a:p>
            <a:r>
              <a:rPr lang="en-US" dirty="0"/>
              <a:t>Ethical Considerations: The project places a strong emphasis on creating a framework that upholds moral principles, fosters comprehension, and encourages objective discussion.</a:t>
            </a:r>
          </a:p>
          <a:p>
            <a:r>
              <a:rPr lang="en-US" dirty="0"/>
              <a:t>Impact: Project Debater can help with decision-making processes, educate discussions, and improve critical thinking abilities.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16774-8E95-03C7-C2E1-4DEA74A9D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öhne"/>
              </a:rPr>
              <a:t>Google's DeepMind for Healthcare: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D298B8-B447-B595-8C1A-C798F9F8523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Goal: By concentrating on areas like illness prediction and patient care optimization, DeepMind, a division of Alphabet, Google's parent company, has used AI to the healthcare industry.</a:t>
            </a:r>
          </a:p>
          <a:p>
            <a:r>
              <a:rPr lang="en-US" dirty="0"/>
              <a:t>Ethical Considerations: By establishing stringent data access controls and guaranteeing transparency in their partnerships, DeepMind has worked closely with healthcare providers to address privacy concerns.</a:t>
            </a:r>
          </a:p>
          <a:p>
            <a:r>
              <a:rPr lang="en-US" dirty="0"/>
              <a:t>Impact: The goals of DeepMind's healthcare initiatives are to lower expenses, increase overall healthcare delivery efficiency, and improve patient outcomes.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099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Freeform: Shape 5126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129" name="Group 5128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5130" name="Freeform: Shape 5129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31" name="Freeform: Shape 5130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32" name="Freeform: Shape 5131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33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4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5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6" name="Freeform: Shape 5135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138" name="Freeform: Shape 5137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40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1056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5141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42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5143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44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45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46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5148" name="Rectangle 5147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44214D-32AE-0CDC-8E33-23E2C38E529B}"/>
              </a:ext>
            </a:extLst>
          </p:cNvPr>
          <p:cNvSpPr txBox="1"/>
          <p:nvPr/>
        </p:nvSpPr>
        <p:spPr>
          <a:xfrm>
            <a:off x="525717" y="787068"/>
            <a:ext cx="4663649" cy="14550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3600" b="1" i="1" dirty="0">
                <a:effectLst/>
                <a:latin typeface="+mj-lt"/>
                <a:ea typeface="+mj-ea"/>
                <a:cs typeface="+mj-cs"/>
              </a:rPr>
              <a:t>AI for Earth by Microsoft:</a:t>
            </a:r>
            <a:endParaRPr lang="en-US" sz="3600" i="1" dirty="0">
              <a:latin typeface="+mj-lt"/>
              <a:ea typeface="+mj-ea"/>
              <a:cs typeface="+mj-cs"/>
            </a:endParaRPr>
          </a:p>
        </p:txBody>
      </p:sp>
      <p:sp>
        <p:nvSpPr>
          <p:cNvPr id="5150" name="Freeform: Shape 5149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52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5153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54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5155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56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57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58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F797E2-A06F-84AE-261F-FF5F5884B447}"/>
              </a:ext>
            </a:extLst>
          </p:cNvPr>
          <p:cNvSpPr txBox="1">
            <a:spLocks/>
          </p:cNvSpPr>
          <p:nvPr/>
        </p:nvSpPr>
        <p:spPr>
          <a:xfrm>
            <a:off x="525717" y="2796427"/>
            <a:ext cx="4663649" cy="3274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400" dirty="0"/>
              <a:t>Goal: Using AI technologies to address environmental issues and advance sustainability is the goal of Microsoft's AI for Earth initiative.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Ethical Considerations: The project is centered on using AI to improve environmental outcomes, such as research on climate change, sustainable agriculture, and wildlife conservation.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Impact: With the help of AI for Earth, initiatives all over the world can monitor biodiversity, analyze environmental data, and create solutions for more sustainable resource management.</a:t>
            </a:r>
          </a:p>
        </p:txBody>
      </p:sp>
      <p:pic>
        <p:nvPicPr>
          <p:cNvPr id="5122" name="Picture 2" descr="Announcing AI for Earth: Microsoft's new program to put AI to work for the  future of our planet - Microsoft On the Issues">
            <a:extLst>
              <a:ext uri="{FF2B5EF4-FFF2-40B4-BE49-F238E27FC236}">
                <a16:creationId xmlns:a16="http://schemas.microsoft.com/office/drawing/2014/main" id="{7F528D45-45CF-C590-51A8-20C9C72E6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74365" y="4473231"/>
            <a:ext cx="3404098" cy="202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60" name="Freeform: Shape 5159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162" name="Group 5161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5163" name="Freeform: Shape 5162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64" name="Freeform: Shape 5163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65" name="Freeform: Shape 5164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5166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7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8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9" name="Freeform: Shape 5168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124" name="Picture 4" descr="IBM Research | Project Debater">
            <a:extLst>
              <a:ext uri="{FF2B5EF4-FFF2-40B4-BE49-F238E27FC236}">
                <a16:creationId xmlns:a16="http://schemas.microsoft.com/office/drawing/2014/main" id="{1260F0BC-8E67-7C9B-27D9-71A54E771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83" y="202705"/>
            <a:ext cx="3415185" cy="192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rivacy advocates sound the alarm after Google grabs DeepMind UK health app  - The Verge">
            <a:extLst>
              <a:ext uri="{FF2B5EF4-FFF2-40B4-BE49-F238E27FC236}">
                <a16:creationId xmlns:a16="http://schemas.microsoft.com/office/drawing/2014/main" id="{4F89D8C6-1890-4882-C4F4-45951A79D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589" y="2326451"/>
            <a:ext cx="2835686" cy="1889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0406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A3DF1-4557-EAE5-7268-E12F99EED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Challenges &amp; Future Outlook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E9E59-5984-3C99-6891-E84F43FAFA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i="0" dirty="0">
                <a:effectLst/>
                <a:latin typeface="Söhne"/>
              </a:rPr>
              <a:t>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stop discrimination, biases in AI models must be addressed.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Increasing the </a:t>
            </a:r>
            <a:r>
              <a:rPr lang="en-US" dirty="0" err="1"/>
              <a:t>explainability</a:t>
            </a:r>
            <a:r>
              <a:rPr lang="en-US" dirty="0"/>
              <a:t> and transparency of AI decision-making procedures.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Privacy Concerns: Ensuring that AI applications protect sensitive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Making Ethical Decisions: Clearly defining moral standards for AI programs.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Job displacement: Reducing the effects of artificial intelligence on employment and income disparities.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D687CD-C1C9-16FD-74CA-E9952D0134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i="0" dirty="0">
                <a:effectLst/>
                <a:latin typeface="Söhne"/>
              </a:rPr>
              <a:t>Future Outlook: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Global ethical standards for responsible AI adoption are called for.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Multidisciplinary Cooperation: Better coordination between various stakeholders.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 is a growing need for transparent and interpretable AI models, or explainable AI (XAI).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AI Literacy and Education: Concentrated efforts to inform decision-makers and the general public.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Responsible Innovation: Giving moral issues top priority during the entire AI development process.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8760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2A715-1C57-040E-349E-876E4300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Söhne"/>
              </a:rPr>
              <a:t>Conclusion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931BAE-EF8E-4028-896E-FF36FD0D0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maximize AI's potential for good societal impact and minimize its negative effects, it is imperative that technological advancements be balanced with ethical considerations. Fostering a future in which AI makes fair, inclusive, and sustainable contributions to social progress is contingent upon responsible AI development.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895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Freeform: Shape 165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71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5" name="Freeform: Shape 174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76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77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1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78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7" name="Picture 6" descr="Aerial view of a highway near the ocean">
            <a:extLst>
              <a:ext uri="{FF2B5EF4-FFF2-40B4-BE49-F238E27FC236}">
                <a16:creationId xmlns:a16="http://schemas.microsoft.com/office/drawing/2014/main" id="{E54DDDAC-4811-DA50-E016-EDE5405556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5849" r="-1" b="19132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BF2479-04E8-4F27-4A09-24AF330102DE}"/>
              </a:ext>
            </a:extLst>
          </p:cNvPr>
          <p:cNvSpPr txBox="1"/>
          <p:nvPr/>
        </p:nvSpPr>
        <p:spPr>
          <a:xfrm>
            <a:off x="1549238" y="1145080"/>
            <a:ext cx="9090476" cy="21796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spcBef>
                <a:spcPct val="0"/>
              </a:spcBef>
              <a:spcAft>
                <a:spcPts val="600"/>
              </a:spcAft>
            </a:pPr>
            <a:r>
              <a:rPr lang="en-US" sz="4000" i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83" name="Freeform: Shape 182">
            <a:extLst>
              <a:ext uri="{FF2B5EF4-FFF2-40B4-BE49-F238E27FC236}">
                <a16:creationId xmlns:a16="http://schemas.microsoft.com/office/drawing/2014/main" id="{25A2CBEC-4F23-437D-9D03-9968C9B7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94120" y="-1094120"/>
            <a:ext cx="1085312" cy="3273554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84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08356" y="353329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12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3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85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6264A856-A4F6-4068-9AC3-7B38A00DA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2983E8C-44FB-463B-B6B0-B53E96ACC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6AD7FCC-3422-42C3-A2AD-69ADFEA6E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C4ECA670-C540-4DCE-8F03-EC843D518C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ECB6083-DDE0-460C-987E-E64587630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25" name="Graphic 12">
              <a:extLst>
                <a:ext uri="{FF2B5EF4-FFF2-40B4-BE49-F238E27FC236}">
                  <a16:creationId xmlns:a16="http://schemas.microsoft.com/office/drawing/2014/main" id="{378004C4-6786-473C-BB2A-AAA6EF115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Graphic 15">
              <a:extLst>
                <a:ext uri="{FF2B5EF4-FFF2-40B4-BE49-F238E27FC236}">
                  <a16:creationId xmlns:a16="http://schemas.microsoft.com/office/drawing/2014/main" id="{455376B6-DAB5-4A34-A8BE-15DE02CAF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Graphic 15">
              <a:extLst>
                <a:ext uri="{FF2B5EF4-FFF2-40B4-BE49-F238E27FC236}">
                  <a16:creationId xmlns:a16="http://schemas.microsoft.com/office/drawing/2014/main" id="{EC2A85A1-668E-48DF-A484-FADE64BE6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6D16C5EE-54EB-4800-8860-E622EEDE84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40281430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AnalogousFromLightSeed_2SEEDS">
      <a:dk1>
        <a:srgbClr val="000000"/>
      </a:dk1>
      <a:lt1>
        <a:srgbClr val="FFFFFF"/>
      </a:lt1>
      <a:dk2>
        <a:srgbClr val="413424"/>
      </a:dk2>
      <a:lt2>
        <a:srgbClr val="E8E8E2"/>
      </a:lt2>
      <a:accent1>
        <a:srgbClr val="6F6FCA"/>
      </a:accent1>
      <a:accent2>
        <a:srgbClr val="87A6D3"/>
      </a:accent2>
      <a:accent3>
        <a:srgbClr val="A889D4"/>
      </a:accent3>
      <a:accent4>
        <a:srgbClr val="CA836F"/>
      </a:accent4>
      <a:accent5>
        <a:srgbClr val="BFA067"/>
      </a:accent5>
      <a:accent6>
        <a:srgbClr val="A5A95D"/>
      </a:accent6>
      <a:hlink>
        <a:srgbClr val="858551"/>
      </a:hlink>
      <a:folHlink>
        <a:srgbClr val="7F7F7F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1520</TotalTime>
  <Words>836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Avenir Next LT Pro</vt:lpstr>
      <vt:lpstr>Avenir Next LT Pro Light</vt:lpstr>
      <vt:lpstr>Georgia Pro Semibold</vt:lpstr>
      <vt:lpstr>Söhne</vt:lpstr>
      <vt:lpstr>RocaVTI</vt:lpstr>
      <vt:lpstr>Understanding the Intersection of AI, Ethics, and Social Progress</vt:lpstr>
      <vt:lpstr>AI for Good means</vt:lpstr>
      <vt:lpstr>AI Algorithms in Social Domains</vt:lpstr>
      <vt:lpstr>Ethical Considerations in AI for Good</vt:lpstr>
      <vt:lpstr>Case Studies in Ethical AI for Good</vt:lpstr>
      <vt:lpstr>PowerPoint Presentation</vt:lpstr>
      <vt:lpstr> Challenges &amp; Future Outlook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the Intersection of AI, Ethics, and Social Progress</dc:title>
  <dc:creator>Mohammad Saad Mohammad Muslim Shaikh</dc:creator>
  <cp:lastModifiedBy>Mohammad Saad Mohammad Muslim Shaikh</cp:lastModifiedBy>
  <cp:revision>3</cp:revision>
  <dcterms:created xsi:type="dcterms:W3CDTF">2023-11-16T11:55:00Z</dcterms:created>
  <dcterms:modified xsi:type="dcterms:W3CDTF">2023-11-17T13:26:06Z</dcterms:modified>
</cp:coreProperties>
</file>